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Experience</c:v>
                </c:pt>
              </c:strCache>
            </c:strRef>
          </c:tx>
          <c:dPt>
            <c:idx val="0"/>
            <c:spPr>
              <a:solidFill>
                <a:srgbClr val="0066FF"/>
              </a:solidFill>
            </c:spPr>
          </c:dPt>
          <c:dPt>
            <c:idx val="1"/>
            <c:spPr>
              <a:solidFill>
                <a:srgbClr val="5A5A5E"/>
              </a:solidFill>
            </c:spPr>
          </c:dPt>
          <c:dPt>
            <c:idx val="2"/>
            <c:spPr>
              <a:solidFill>
                <a:srgbClr val="30D158"/>
              </a:solidFill>
            </c:spPr>
          </c:dPt>
          <c:dPt>
            <c:idx val="3"/>
            <c:spPr>
              <a:solidFill>
                <a:srgbClr val="BF5AF2"/>
              </a:solidFill>
            </c:spPr>
          </c:dPt>
          <c:cat>
            <c:strRef>
              <c:f>Sheet1!$A$2:$A$5</c:f>
              <c:strCache>
                <c:ptCount val="4"/>
                <c:pt idx="0">
                  <c:v>Product &amp; Engineering (Strata + iwoca)</c:v>
                </c:pt>
                <c:pt idx="1">
                  <c:v>Strategy Consulting (MBA)</c:v>
                </c:pt>
                <c:pt idx="2">
                  <c:v>Startup (Elixr)</c:v>
                </c:pt>
                <c:pt idx="3">
                  <c:v>Data &amp; Analytics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A0A0A0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olut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64592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731520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Inter"/>
              </a:defRPr>
            </a:pPr>
            <a:r>
              <a:t>Why Shruti?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73152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Inter"/>
              </a:defRPr>
            </a:pPr>
            <a:r>
              <a:t>Graduate Programme 2027: Product Owner (UX)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Inter"/>
              </a:defRPr>
            </a:pPr>
            <a:r>
              <a:t>Application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Inter"/>
              </a:defRPr>
            </a:pPr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olut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663440"/>
            <a:ext cx="109728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Real product delivery, not just theory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920240" cy="118872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554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3000" b="1">
                <a:solidFill>
                  <a:srgbClr val="0066FF"/>
                </a:solidFill>
                <a:latin typeface="Inter"/>
              </a:defRPr>
            </a:pPr>
            <a:r>
              <a:t>69,000+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554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Inter"/>
              </a:defRPr>
            </a:pPr>
            <a:r>
              <a:t>Customers scored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005840"/>
            <a:ext cx="1920240" cy="118872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88720"/>
            <a:ext cx="1554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3000" b="1">
                <a:solidFill>
                  <a:srgbClr val="0066FF"/>
                </a:solidFill>
                <a:latin typeface="Inter"/>
              </a:defRPr>
            </a:pPr>
            <a:r>
              <a:t>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554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Inter"/>
              </a:defRPr>
            </a:pPr>
            <a:r>
              <a:t>Drop-off identified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005840"/>
            <a:ext cx="1920240" cy="118872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188720"/>
            <a:ext cx="1554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3000" b="1">
                <a:solidFill>
                  <a:srgbClr val="0066FF"/>
                </a:solidFill>
                <a:latin typeface="Inter"/>
              </a:defRPr>
            </a:pPr>
            <a:r>
              <a:t>22-slide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28800"/>
            <a:ext cx="1554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Inter"/>
              </a:defRPr>
            </a:pPr>
            <a:r>
              <a:t>Deck automated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005840"/>
            <a:ext cx="1920240" cy="118872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188720"/>
            <a:ext cx="1554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3000" b="1">
                <a:solidFill>
                  <a:srgbClr val="0066FF"/>
                </a:solidFill>
                <a:latin typeface="Inter"/>
              </a:defRPr>
            </a:pPr>
            <a:r>
              <a:t>11,000+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28800"/>
            <a:ext cx="1554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Inter"/>
              </a:defRPr>
            </a:pPr>
            <a:r>
              <a:t>Marketing emails 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777240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A0A0A0"/>
                </a:solidFill>
                <a:latin typeface="Inter"/>
              </a:defRPr>
            </a:pPr>
            <a:r>
              <a:t>•  Scoped and implemented seller onboarding journey (eligibility logic, progressive disclosure UX, deal-stage automation). Conducted competitor analysis across 6 platforms to define manda's value proposition and operating model differentiation.</a:t>
            </a:r>
          </a:p>
          <a:p>
            <a:pPr>
              <a:spcAft>
                <a:spcPts val="600"/>
              </a:spcAft>
              <a:defRPr sz="900">
                <a:solidFill>
                  <a:srgbClr val="A0A0A0"/>
                </a:solidFill>
                <a:latin typeface="Inter"/>
              </a:defRPr>
            </a:pPr>
            <a:r>
              <a:t>•  Built an IM builder (22-slide branded investor memorandums for M&amp;A deals), then generalised it into a presentation-builder skill that extracts any company's brand and generates any deck. This deck is a sample output.</a:t>
            </a:r>
          </a:p>
          <a:p>
            <a:pPr>
              <a:spcAft>
                <a:spcPts val="600"/>
              </a:spcAft>
              <a:defRPr sz="900">
                <a:solidFill>
                  <a:srgbClr val="A0A0A0"/>
                </a:solidFill>
                <a:latin typeface="Inter"/>
              </a:defRPr>
            </a:pPr>
            <a:r>
              <a:t>•  Collaborated across 6 teams: Marketing (HubSpot as deal OS), Data (scoring), Sales (outreach), Product &amp; Eng (prototype), Legal (compliance). Trained Sales + 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 b="1">
                <a:solidFill>
                  <a:srgbClr val="0066FF"/>
                </a:solidFill>
                <a:latin typeface="Inter"/>
              </a:defRPr>
            </a:pPr>
            <a:r>
              <a:t>All achieved in 6 months on iwoca's new venture (manda), building 0-to-1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olut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663440"/>
            <a:ext cx="109728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What the JD asks vs what Shruti brings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31920"/>
            <a:ext cx="5522975" cy="2743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3840480"/>
            <a:ext cx="50292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700" b="0">
                <a:solidFill>
                  <a:srgbClr val="6B6B6B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64991"/>
            <a:ext cx="5522975" cy="2743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3273551"/>
            <a:ext cx="50292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700" b="0">
                <a:solidFill>
                  <a:srgbClr val="6B6B6B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98063"/>
            <a:ext cx="5522975" cy="2743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706623"/>
            <a:ext cx="50292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700" b="0">
                <a:solidFill>
                  <a:srgbClr val="6B6B6B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31136"/>
            <a:ext cx="5522975" cy="2743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2139696"/>
            <a:ext cx="50292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700" b="0">
                <a:solidFill>
                  <a:srgbClr val="6B6B6B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664207"/>
            <a:ext cx="5522975" cy="2743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1572767"/>
            <a:ext cx="50292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700" b="0">
                <a:solidFill>
                  <a:srgbClr val="6B6B6B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097280"/>
            <a:ext cx="5522975" cy="2743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1005840"/>
            <a:ext cx="50292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700" b="0">
                <a:solidFill>
                  <a:srgbClr val="6B6B6B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097280"/>
            <a:ext cx="320040" cy="2834639"/>
          </a:xfrm>
          <a:prstGeom prst="round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8136" y="1380744"/>
            <a:ext cx="320040" cy="2551175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896112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A0A0A0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1179576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4A8AFF"/>
                </a:solidFill>
                <a:latin typeface="Inter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05072"/>
            <a:ext cx="768096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0">
                <a:solidFill>
                  <a:srgbClr val="A0A0A0"/>
                </a:solidFill>
                <a:latin typeface="Inter"/>
              </a:defRPr>
            </a:pPr>
            <a:r>
              <a:t>Product strategy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00784" y="1097280"/>
            <a:ext cx="320040" cy="2834639"/>
          </a:xfrm>
          <a:prstGeom prst="round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57400" y="1380744"/>
            <a:ext cx="320040" cy="2551175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00784" y="896112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A0A0A0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1179576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4A8AFF"/>
                </a:solidFill>
                <a:latin typeface="Inter"/>
              </a:defRPr>
            </a:pPr>
            <a: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4005072"/>
            <a:ext cx="768096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0">
                <a:solidFill>
                  <a:srgbClr val="A0A0A0"/>
                </a:solidFill>
                <a:latin typeface="Inter"/>
              </a:defRPr>
            </a:pPr>
            <a:r>
              <a:t>Data &amp; insights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70048" y="1097280"/>
            <a:ext cx="320040" cy="2834639"/>
          </a:xfrm>
          <a:prstGeom prst="round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026664" y="1097280"/>
            <a:ext cx="320040" cy="2834639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0048" y="896112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A0A0A0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6664" y="896112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4A8AFF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4328" y="4005072"/>
            <a:ext cx="768096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0">
                <a:solidFill>
                  <a:srgbClr val="A0A0A0"/>
                </a:solidFill>
                <a:latin typeface="Inter"/>
              </a:defRPr>
            </a:pPr>
            <a:r>
              <a:t>Cross-functional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39312" y="1097280"/>
            <a:ext cx="320040" cy="2834639"/>
          </a:xfrm>
          <a:prstGeom prst="round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995928" y="1664207"/>
            <a:ext cx="320040" cy="2267712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9312" y="896112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A0A0A0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95928" y="1463039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4A8AFF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2" y="4005072"/>
            <a:ext cx="768096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0">
                <a:solidFill>
                  <a:srgbClr val="A0A0A0"/>
                </a:solidFill>
                <a:latin typeface="Inter"/>
              </a:defRPr>
            </a:pPr>
            <a:r>
              <a:t>User testing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08576" y="1097280"/>
            <a:ext cx="320040" cy="2834639"/>
          </a:xfrm>
          <a:prstGeom prst="round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65192" y="1380744"/>
            <a:ext cx="320040" cy="2551175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8576" y="896112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A0A0A0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5192" y="1179576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4A8AFF"/>
                </a:solidFill>
                <a:latin typeface="Inter"/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6" y="4005072"/>
            <a:ext cx="768096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0">
                <a:solidFill>
                  <a:srgbClr val="A0A0A0"/>
                </a:solidFill>
                <a:latin typeface="Inter"/>
              </a:defRPr>
            </a:pPr>
            <a:r>
              <a:t>Communication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2514600"/>
            <a:ext cx="320040" cy="1417319"/>
          </a:xfrm>
          <a:prstGeom prst="round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934456" y="1097280"/>
            <a:ext cx="320040" cy="2834639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0" y="2313432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A0A0A0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34456" y="896112"/>
            <a:ext cx="3200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1">
                <a:solidFill>
                  <a:srgbClr val="4A8AFF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005072"/>
            <a:ext cx="768096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700" b="0">
                <a:solidFill>
                  <a:srgbClr val="A0A0A0"/>
                </a:solidFill>
                <a:latin typeface="Inter"/>
              </a:defRPr>
            </a:pPr>
            <a:r>
              <a:t>Startup mindset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434840"/>
            <a:ext cx="164592" cy="118872"/>
          </a:xfrm>
          <a:prstGeom prst="round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4416552"/>
            <a:ext cx="13716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 b="0">
                <a:solidFill>
                  <a:srgbClr val="A0A0A0"/>
                </a:solidFill>
                <a:latin typeface="Inter"/>
              </a:defRPr>
            </a:pPr>
            <a:r>
              <a:t>JD Requirement (/10)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4434840"/>
            <a:ext cx="164592" cy="118872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4416552"/>
            <a:ext cx="13716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 b="0">
                <a:solidFill>
                  <a:srgbClr val="A0A0A0"/>
                </a:solidFill>
                <a:latin typeface="Inter"/>
              </a:defRPr>
            </a:pPr>
            <a:r>
              <a:t>Shruti Evidence (/10)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1280160"/>
            <a:ext cx="2286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Key takeaway: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1645920"/>
            <a:ext cx="228600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800">
                <a:solidFill>
                  <a:srgbClr val="A0A0A0"/>
                </a:solidFill>
                <a:latin typeface="Inter"/>
              </a:defRPr>
            </a:pPr>
            <a:r>
              <a:t>•  Strong match on every core requirement</a:t>
            </a:r>
          </a:p>
          <a:p>
            <a:pPr>
              <a:spcAft>
                <a:spcPts val="800"/>
              </a:spcAft>
              <a:defRPr sz="800">
                <a:solidFill>
                  <a:srgbClr val="A0A0A0"/>
                </a:solidFill>
                <a:latin typeface="Inter"/>
              </a:defRPr>
            </a:pPr>
            <a:r>
              <a:t>•  Exceeds on startup/entrepreneurial</a:t>
            </a:r>
          </a:p>
          <a:p>
            <a:pPr>
              <a:spcAft>
                <a:spcPts val="800"/>
              </a:spcAft>
              <a:defRPr sz="800">
                <a:solidFill>
                  <a:srgbClr val="A0A0A0"/>
                </a:solidFill>
                <a:latin typeface="Inter"/>
              </a:defRPr>
            </a:pPr>
            <a:r>
              <a:t>•  Weakest: user testing (still 8/10)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olut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663440"/>
            <a:ext cx="109728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Every core responsibility maps to demonstrated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155448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34747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Inter"/>
              </a:defRPr>
            </a:pPr>
            <a:r>
              <a:t>Product scoping &amp; prototyping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3474720" cy="8229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Scoped and implemented seller onboarding journey (eligibility, UX, automation). Competitor analysis across 6 platforms to define value proposition and operating model differentiation.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3931920" cy="155448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188720"/>
            <a:ext cx="34747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Inter"/>
              </a:defRPr>
            </a:pPr>
            <a:r>
              <a:t>Data-driven prioritisation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554480"/>
            <a:ext cx="3474720" cy="8229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Built propensity model (Python, SQL, 69k customers, 122 features). Used funnel analysis (55% drop-off) to decide what to build next.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3931920" cy="155448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34747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Inter"/>
              </a:defRPr>
            </a:pPr>
            <a:r>
              <a:t>Cross-functional collaboration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3474720" cy="8229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6 teams: Marketing (HubSpot as deal OS), Data (scoring), Sales (11k outreach), Product &amp; Eng (prototype), Legal (compliance). Trained Sales + CS on manda.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743200"/>
            <a:ext cx="3931920" cy="155448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926080"/>
            <a:ext cx="34747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Inter"/>
              </a:defRPr>
            </a:pPr>
            <a:r>
              <a:t>Building scalable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91840"/>
            <a:ext cx="3474720" cy="8229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Built a 22-slide IM builder for M&amp;A investor decks (Python + Claude AI), then generalised it into a reusable presentation-builder skill: extracts any brand, generates any deck type. This deck is a sample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olut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663440"/>
            <a:ext cx="109728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Product, strategy, and startup experience that compounds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914400"/>
          <a:ext cx="41148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46320" y="1097280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Product &amp; 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Inter"/>
              </a:defRPr>
            </a:pPr>
            <a:r>
              <a:t>iwoca: onboarding prototype, outreach system,</a:t>
            </a:r>
            <a:br/>
            <a:r>
              <a:t>AI tool. Strata: B2B software, 3 countries.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65960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240279"/>
            <a:ext cx="3840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Inter"/>
              </a:defRPr>
            </a:pPr>
            <a:r>
              <a:t>Eurostar: CX diagnostic for Chief of Strategy.</a:t>
            </a:r>
            <a:br/>
            <a:r>
              <a:t>Ford: go-to-market + commercial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834639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Startup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108959"/>
            <a:ext cx="3840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Inter"/>
              </a:defRPr>
            </a:pPr>
            <a:r>
              <a:t>Co-founded Elixr. Shipped pilot app.</a:t>
            </a:r>
            <a:br/>
            <a:r>
              <a:t>A/B tested. Iterated on user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703320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Data &amp;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977639"/>
            <a:ext cx="3840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Inter"/>
              </a:defRPr>
            </a:pPr>
            <a:r>
              <a:t>Python, SQL, Snowflake, Excel.</a:t>
            </a:r>
            <a:br/>
            <a:r>
              <a:t>122-feature scoring model. Funnel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olut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663440"/>
            <a:ext cx="109728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A deliberate pivot from engineering to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320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A0A0A0"/>
                </a:solidFill>
                <a:latin typeface="Inter"/>
              </a:defRPr>
            </a:pPr>
            <a:r>
              <a:t>•  MBA graduate (Merit, Bayes Business School) pivoting into product</a:t>
            </a:r>
          </a:p>
          <a:p>
            <a:pPr>
              <a:spcAft>
                <a:spcPts val="1000"/>
              </a:spcAft>
              <a:defRPr sz="900">
                <a:solidFill>
                  <a:srgbClr val="A0A0A0"/>
                </a:solidFill>
                <a:latin typeface="Inter"/>
              </a:defRPr>
            </a:pPr>
            <a:r>
              <a:t>•  Co-founded Elixr (health-tech): shipped MVP, ran A/B tests, iterated on conversion</a:t>
            </a:r>
          </a:p>
          <a:p>
            <a:pPr>
              <a:spcAft>
                <a:spcPts val="1000"/>
              </a:spcAft>
              <a:defRPr sz="900">
                <a:solidFill>
                  <a:srgbClr val="A0A0A0"/>
                </a:solidFill>
                <a:latin typeface="Inter"/>
              </a:defRPr>
            </a:pPr>
            <a:r>
              <a:t>•  Consulting projects: Eurostar CX diagnostic, Ford go-to-market strategy</a:t>
            </a:r>
          </a:p>
          <a:p>
            <a:pPr>
              <a:spcAft>
                <a:spcPts val="1000"/>
              </a:spcAft>
              <a:defRPr sz="900">
                <a:solidFill>
                  <a:srgbClr val="A0A0A0"/>
                </a:solidFill>
                <a:latin typeface="Inter"/>
              </a:defRPr>
            </a:pPr>
            <a:r>
              <a:t>•  Chose 0-to-1 product role at iwoca manda to build hands-on PM experience</a:t>
            </a:r>
          </a:p>
          <a:p>
            <a:pPr>
              <a:spcAft>
                <a:spcPts val="1000"/>
              </a:spcAft>
              <a:defRPr sz="900">
                <a:solidFill>
                  <a:srgbClr val="A0A0A0"/>
                </a:solidFill>
                <a:latin typeface="Inter"/>
              </a:defRPr>
            </a:pPr>
            <a:r>
              <a:t>•  Prior: 7 years delivering B2B software across 3 countries (cross-functional skills)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914400"/>
            <a:ext cx="3931920" cy="3749039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0" y="1243584"/>
            <a:ext cx="18288" cy="2834639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74920" y="1188720"/>
            <a:ext cx="109728" cy="10972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170432"/>
            <a:ext cx="6400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1">
                <a:solidFill>
                  <a:srgbClr val="0066FF"/>
                </a:solidFill>
                <a:latin typeface="Inter"/>
              </a:defRPr>
            </a:pPr>
            <a:r>
              <a:t>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170432"/>
            <a:ext cx="25603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B.E. Civil Engineering (First Class)</a:t>
            </a:r>
          </a:p>
        </p:txBody>
      </p:sp>
      <p:sp>
        <p:nvSpPr>
          <p:cNvPr id="10" name="Oval 9"/>
          <p:cNvSpPr/>
          <p:nvPr/>
        </p:nvSpPr>
        <p:spPr>
          <a:xfrm>
            <a:off x="5074920" y="1755648"/>
            <a:ext cx="109728" cy="10972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737360"/>
            <a:ext cx="6400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1">
                <a:solidFill>
                  <a:srgbClr val="0066FF"/>
                </a:solidFill>
                <a:latin typeface="Inter"/>
              </a:defRPr>
            </a:pPr>
            <a:r>
              <a:t>2016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737360"/>
            <a:ext cx="25603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Co-founded Elixr (health-tech startup)</a:t>
            </a:r>
          </a:p>
        </p:txBody>
      </p:sp>
      <p:sp>
        <p:nvSpPr>
          <p:cNvPr id="13" name="Oval 12"/>
          <p:cNvSpPr/>
          <p:nvPr/>
        </p:nvSpPr>
        <p:spPr>
          <a:xfrm>
            <a:off x="5074920" y="2322576"/>
            <a:ext cx="109728" cy="10972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304288"/>
            <a:ext cx="6400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1">
                <a:solidFill>
                  <a:srgbClr val="0066FF"/>
                </a:solidFill>
                <a:latin typeface="Inter"/>
              </a:defRPr>
            </a:pPr>
            <a:r>
              <a:t>2017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304288"/>
            <a:ext cx="25603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Engineering PM, Strata (3 countries)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2889504"/>
            <a:ext cx="109728" cy="10972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871216"/>
            <a:ext cx="6400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1">
                <a:solidFill>
                  <a:srgbClr val="0066FF"/>
                </a:solidFill>
                <a:latin typeface="Inter"/>
              </a:defRPr>
            </a:pPr>
            <a: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871216"/>
            <a:ext cx="25603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MBA (Merit), Bayes Business School</a:t>
            </a:r>
          </a:p>
        </p:txBody>
      </p:sp>
      <p:sp>
        <p:nvSpPr>
          <p:cNvPr id="19" name="Oval 18"/>
          <p:cNvSpPr/>
          <p:nvPr/>
        </p:nvSpPr>
        <p:spPr>
          <a:xfrm>
            <a:off x="5074920" y="3456432"/>
            <a:ext cx="109728" cy="10972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3438144"/>
            <a:ext cx="6400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1">
                <a:solidFill>
                  <a:srgbClr val="0066FF"/>
                </a:solidFill>
                <a:latin typeface="Inter"/>
              </a:defRPr>
            </a:pPr>
            <a:r>
              <a:t>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438144"/>
            <a:ext cx="25603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Product &amp; Strategy Intern, iwoca manda</a:t>
            </a:r>
          </a:p>
        </p:txBody>
      </p:sp>
      <p:sp>
        <p:nvSpPr>
          <p:cNvPr id="22" name="Oval 21"/>
          <p:cNvSpPr/>
          <p:nvPr/>
        </p:nvSpPr>
        <p:spPr>
          <a:xfrm>
            <a:off x="5074920" y="4023360"/>
            <a:ext cx="109728" cy="10972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4005072"/>
            <a:ext cx="6400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1">
                <a:solidFill>
                  <a:srgbClr val="0066FF"/>
                </a:solidFill>
                <a:latin typeface="Inter"/>
              </a:defRPr>
            </a:pPr>
            <a: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05072"/>
            <a:ext cx="25603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Available for Revolut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olut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663440"/>
            <a:ext cx="109728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'nice-to-haves' are already proven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606040" cy="146304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22402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Inter"/>
              </a:defRPr>
            </a:pPr>
            <a:r>
              <a:t>Startup co-founder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2402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Co-founded Elixr (health-tech): defined</a:t>
            </a:r>
            <a:br/>
            <a:r>
              <a:t>vision, scoped MVP, shipped pilot app,</a:t>
            </a:r>
            <a:br/>
            <a:r>
              <a:t>ran user testing with real participants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8688" y="960120"/>
            <a:ext cx="2606040" cy="146304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1097280"/>
            <a:ext cx="22402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Inter"/>
              </a:defRPr>
            </a:pPr>
            <a:r>
              <a:t>Entrepreneurial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417320"/>
            <a:ext cx="22402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Built iwoca manda's product function</a:t>
            </a:r>
            <a:br/>
            <a:r>
              <a:t>from zero: scoring, outreach, onboarding,</a:t>
            </a:r>
            <a:br/>
            <a:r>
              <a:t>AI tooling, dashboards, CRM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0176" y="960120"/>
            <a:ext cx="2606040" cy="146304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6" y="1097280"/>
            <a:ext cx="22402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Inter"/>
              </a:defRPr>
            </a:pPr>
            <a:r>
              <a:t>Fast-paced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1417320"/>
            <a:ext cx="22402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Delivered at startup velocity: 6 months</a:t>
            </a:r>
            <a:br/>
            <a:r>
              <a:t>at iwoca, 6 months at Elixr. Comfortable</a:t>
            </a:r>
            <a:br/>
            <a:r>
              <a:t>with ambiguity and rapid iteration.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2606040" cy="146304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79"/>
            <a:ext cx="22402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Inter"/>
              </a:defRPr>
            </a:pPr>
            <a:r>
              <a:t>Technology passion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2402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Built AI presentation tool (Python +</a:t>
            </a:r>
            <a:br/>
            <a:r>
              <a:t>Claude AI). Technically fluent: reads</a:t>
            </a:r>
            <a:br/>
            <a:r>
              <a:t>code, uses SQL/Python daily, builds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18688" y="2560320"/>
            <a:ext cx="2606040" cy="146304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697479"/>
            <a:ext cx="22402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Inter"/>
              </a:defRPr>
            </a:pPr>
            <a:r>
              <a:t>UK Citizen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017520"/>
            <a:ext cx="22402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No sponsorship required.</a:t>
            </a:r>
            <a:br/>
            <a:r>
              <a:t>No visa delays or complications.</a:t>
            </a:r>
            <a:br/>
            <a:r>
              <a:t>Can start immediately.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0176" y="2560320"/>
            <a:ext cx="2606040" cy="146304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2697479"/>
            <a:ext cx="22402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  <a:latin typeface="Inter"/>
              </a:defRPr>
            </a:pPr>
            <a:r>
              <a:t>Available early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3017520"/>
            <a:ext cx="22402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Graduated Nov 2025 (MBA, Bayes).</a:t>
            </a:r>
            <a:br/>
            <a:r>
              <a:t>Ready for January or July 2027</a:t>
            </a:r>
            <a:br/>
            <a:r>
              <a:t>intake. Flexible on location.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olut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663440"/>
            <a:ext cx="109728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A graduate who already operates at product owner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155448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Proven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4747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At iwoca: scoring model, outreach system, onboarding prototype, IM builder (22-slide M&amp;A decks) generalised into a reusable presentation-builder. At Elixr: shipped MVP mobile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3931920" cy="155448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188720"/>
            <a:ext cx="3474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Data-native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600200"/>
            <a:ext cx="34747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Python, SQL, Snowflake. Built 122-feature propensity model. Funnel analysis. Engagement tracking. Reporting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3931920" cy="155448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3474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Cross-functional fluency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34747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Worked across 6 teams at iwoca (Marketing, Data, Sales, Product &amp; Eng, Legal, CS). Presented strategy to C-suite in MBA consulting.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743200"/>
            <a:ext cx="3931920" cy="1554480"/>
          </a:xfrm>
          <a:prstGeom prst="round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926080"/>
            <a:ext cx="3474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Customer obsession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337560"/>
            <a:ext cx="34747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Inter"/>
              </a:defRPr>
            </a:pPr>
            <a:r>
              <a:t>Every decision traced to user needs: progressive disclosure UX, onboarding iteration, content testing based on feedback loops.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olut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663440"/>
            <a:ext cx="109728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Shruti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800" b="0">
                <a:solidFill>
                  <a:srgbClr val="0066FF"/>
                </a:solidFill>
                <a:latin typeface="Inter"/>
              </a:defRPr>
            </a:pPr>
            <a:r>
              <a:t>github.com/shruti2212-ctrl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Inter"/>
              </a:defRPr>
            </a:pPr>
            <a:r>
              <a:t>UK Citizen. Available early 2027. Graduated November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